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3" r:id="rId9"/>
    <p:sldId id="263" r:id="rId10"/>
    <p:sldId id="264" r:id="rId11"/>
    <p:sldId id="274" r:id="rId12"/>
    <p:sldId id="275" r:id="rId13"/>
    <p:sldId id="276" r:id="rId14"/>
    <p:sldId id="265" r:id="rId15"/>
    <p:sldId id="277" r:id="rId16"/>
    <p:sldId id="266" r:id="rId17"/>
    <p:sldId id="278" r:id="rId18"/>
    <p:sldId id="279" r:id="rId19"/>
    <p:sldId id="280" r:id="rId20"/>
    <p:sldId id="281" r:id="rId21"/>
    <p:sldId id="267" r:id="rId22"/>
    <p:sldId id="282" r:id="rId23"/>
    <p:sldId id="268" r:id="rId24"/>
    <p:sldId id="283" r:id="rId25"/>
    <p:sldId id="269" r:id="rId26"/>
    <p:sldId id="270" r:id="rId27"/>
    <p:sldId id="271" r:id="rId28"/>
    <p:sldId id="27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A66F73-8216-460D-AE41-5A45C21FD342}" v="14" dt="2026-05-30T15:45:04.6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B7179-7A68-EFF8-FC38-156E3B9C0B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2D57AF-C5B6-3739-2D06-3A9C8560F9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8C67A-86AB-7890-AF30-3FEFC43F3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EEA12-FCA9-4B78-BF4E-F70C50B0C122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4EEC0-1924-A51B-AB87-BA721B7A0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3BE06-C45B-C8FC-8375-69A86BDBF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EF1A1-4BC0-4E79-A694-7AA14B0AAE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193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AB3B3-557E-42DF-F6CB-20B229784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B13C0-7F06-97C7-759F-7548D07E7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DCADF-7AA8-D9C8-CD96-C8B60FAB7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EEA12-FCA9-4B78-BF4E-F70C50B0C122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C98E7-C5D0-1ABF-09C4-7D2D7F805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F0A80-9EF2-BCD0-81FC-B3536F5D7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EF1A1-4BC0-4E79-A694-7AA14B0AAE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626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06396-3546-5C2D-A19D-0373C98FC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47EFB-3229-3B64-C8CC-565E43C94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45F3E-49D1-95B4-6896-720CF5EE0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EEA12-FCA9-4B78-BF4E-F70C50B0C122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7A256-BB47-9189-F2C6-13621AD85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113B1-C3E7-0D17-4F1D-A695616FC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EF1A1-4BC0-4E79-A694-7AA14B0AAE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433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A9CD7-7AE8-48E6-C3DE-88E7DAF3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0B187-F7EA-DD66-40B3-9FBA8B3008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8F25CC-05D4-3312-1BDF-0575E5AD2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3841C5-7D94-63FA-DD17-E168591A0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EEA12-FCA9-4B78-BF4E-F70C50B0C122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EF9B40-3CEB-5F08-2749-2B470651E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FDFAF-68A3-7337-A955-263FF2D63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EF1A1-4BC0-4E79-A694-7AA14B0AAE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753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CEADE-46D0-FE7A-B120-7AD20DECB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97A31-A050-DEE7-643F-176C476EF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5971EB-8EC1-3604-D8D7-34E843E315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7DCC63-9434-7D84-8FEB-2F453BE809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4E1748-4094-5322-A131-1D4E13BDF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8F35E7-67D3-6044-63BF-C5C311634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EEA12-FCA9-4B78-BF4E-F70C50B0C122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36F846-9763-4961-11F0-97ADB5BEF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14C469-90E6-AF3D-83BC-2F1461757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EF1A1-4BC0-4E79-A694-7AA14B0AAE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457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3CE36-30D2-CCC7-326D-C994C7654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FB247B-FD1D-E947-428E-1757A0DF1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EEA12-FCA9-4B78-BF4E-F70C50B0C122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09D704-A932-C3B6-2F9B-54447FC63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2F830D-5D58-A352-786A-59B5AF2B8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EF1A1-4BC0-4E79-A694-7AA14B0AAE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377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9150F2-F132-960F-55DC-52CD3AC7B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EEA12-FCA9-4B78-BF4E-F70C50B0C122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A025E2-D84C-5C48-95FE-4347326A6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6A3FA-461E-37ED-9816-404C98A5B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EF1A1-4BC0-4E79-A694-7AA14B0AAE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7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0F123-AD7D-9A68-2D24-A8F13DC6F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1BDCD-CDFE-4F9F-B983-49E7AF588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B75E28-95E4-AEB4-40BE-0CAB9D77ED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9E106E-16B6-DEA1-8539-941CE912E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EEA12-FCA9-4B78-BF4E-F70C50B0C122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556B6F-6373-8C5E-C676-C4210EE24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606B7-7C7A-A57B-B847-A1033C294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EF1A1-4BC0-4E79-A694-7AA14B0AAE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618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FEF82-4CF4-119C-0B8C-735D33B10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EECE84-0343-7A45-F181-41466FA450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EFF60-6B2C-D8E3-AA52-4D18793E8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F38A25-8862-FFE0-D4A8-783B78FAC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EEA12-FCA9-4B78-BF4E-F70C50B0C122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25FE49-02A6-53ED-EA79-D215DB4DF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4F4EC-56CD-6F03-2962-8E6B1D4B4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EF1A1-4BC0-4E79-A694-7AA14B0AAE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403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F21A9-5BFE-B90C-365B-92F865075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8EFEC9-6A2A-3250-B450-E3DD6CCB06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9AACD-B7A6-FE55-722A-2621D557D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EEA12-FCA9-4B78-BF4E-F70C50B0C122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9E701-0FDD-F40D-7FBE-028EAE5FB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9015D-40E2-3E89-1FA1-D5639DAA3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EF1A1-4BC0-4E79-A694-7AA14B0AAE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062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EAC499-A24E-D8C3-CD7E-64132EF00D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CB652-EE33-2B60-CFAB-300DC7318D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7ED1-4487-D36E-D459-F142A65B5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EEA12-FCA9-4B78-BF4E-F70C50B0C122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EFCAC-CF00-D759-944B-8D4AD3164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5AF71-91E2-3326-8E8D-39F864310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EF1A1-4BC0-4E79-A694-7AA14B0AAE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176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67A25F-2642-62FD-BE49-CA5C3869E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E33A4-C10C-BCFD-EF1B-F5CC9166C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58190-E512-BCDC-A601-3D106DE18A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EEA12-FCA9-4B78-BF4E-F70C50B0C122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C5227-A416-72CD-1F2E-FE915B892F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6D402-DE3E-FE3A-B883-BC369A8A6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EF1A1-4BC0-4E79-A694-7AA14B0AAE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052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4A83EB4-0E7A-6C60-F3D4-8AFB06C521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3627"/>
            <a:ext cx="9144000" cy="6282812"/>
          </a:xfrm>
        </p:spPr>
        <p:txBody>
          <a:bodyPr>
            <a:normAutofit fontScale="92500" lnSpcReduction="10000"/>
          </a:bodyPr>
          <a:lstStyle/>
          <a:p>
            <a:endParaRPr lang="en-IN" sz="3600" b="1" dirty="0"/>
          </a:p>
          <a:p>
            <a:r>
              <a:rPr lang="en-IN" sz="3600" b="1" dirty="0"/>
              <a:t>HEALTHCARE DATA ANALYSIS USING PYTHON</a:t>
            </a:r>
          </a:p>
          <a:p>
            <a:endParaRPr lang="en-IN" sz="3600" b="1" dirty="0"/>
          </a:p>
          <a:p>
            <a:r>
              <a:rPr lang="en-IN" sz="3000" dirty="0"/>
              <a:t>HEALTHCARE DATA ANALYSIS PRESENTATION</a:t>
            </a:r>
          </a:p>
          <a:p>
            <a:endParaRPr lang="en-IN" sz="3000" dirty="0"/>
          </a:p>
          <a:p>
            <a:r>
              <a:rPr lang="en-IN" sz="3600" b="1" dirty="0"/>
              <a:t>Minor Project</a:t>
            </a:r>
          </a:p>
          <a:p>
            <a:pPr algn="r"/>
            <a:endParaRPr lang="en-IN" dirty="0"/>
          </a:p>
          <a:p>
            <a:pPr algn="r"/>
            <a:endParaRPr lang="en-IN" dirty="0"/>
          </a:p>
          <a:p>
            <a:pPr algn="r"/>
            <a:endParaRPr lang="en-IN" dirty="0"/>
          </a:p>
          <a:p>
            <a:pPr algn="r"/>
            <a:r>
              <a:rPr lang="en-IN" dirty="0"/>
              <a:t>Submitted By: B. Geetha</a:t>
            </a:r>
          </a:p>
          <a:p>
            <a:pPr algn="r"/>
            <a:r>
              <a:rPr lang="en-IN" dirty="0" err="1"/>
              <a:t>Department:CSE</a:t>
            </a:r>
            <a:r>
              <a:rPr lang="en-IN" dirty="0"/>
              <a:t>(Data science)</a:t>
            </a:r>
          </a:p>
          <a:p>
            <a:pPr algn="r"/>
            <a:r>
              <a:rPr lang="en-IN" dirty="0"/>
              <a:t>College </a:t>
            </a:r>
            <a:r>
              <a:rPr lang="en-IN" dirty="0" err="1"/>
              <a:t>Name:CMR</a:t>
            </a:r>
            <a:r>
              <a:rPr lang="en-IN" dirty="0"/>
              <a:t> Technical campus</a:t>
            </a:r>
          </a:p>
          <a:p>
            <a:pPr algn="r"/>
            <a:r>
              <a:rPr lang="en-IN" dirty="0"/>
              <a:t>Academic Year: 2025-2026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8535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7D17A-BD4E-9350-878A-83EB9E538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65DD4-2F2B-143E-0D0B-40D62041C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 fontAlgn="base">
              <a:buFont typeface="+mj-lt"/>
              <a:buAutoNum type="arabicPeriod"/>
            </a:pPr>
            <a:r>
              <a:rPr lang="en-IN" dirty="0"/>
              <a:t>Healthcare organizations generate large amounts of patient data.</a:t>
            </a:r>
          </a:p>
          <a:p>
            <a:pPr marL="514350" lvl="0" indent="-514350" fontAlgn="base">
              <a:buFont typeface="+mj-lt"/>
              <a:buAutoNum type="arabicPeriod"/>
            </a:pPr>
            <a:r>
              <a:rPr lang="en-IN" dirty="0" err="1"/>
              <a:t>Analyzing</a:t>
            </a:r>
            <a:r>
              <a:rPr lang="en-IN" dirty="0"/>
              <a:t> healthcare data helps identify disease patterns and risk factors.</a:t>
            </a:r>
          </a:p>
          <a:p>
            <a:pPr marL="514350" lvl="0" indent="-514350" fontAlgn="base">
              <a:buFont typeface="+mj-lt"/>
              <a:buAutoNum type="arabicPeriod"/>
            </a:pPr>
            <a:r>
              <a:rPr lang="en-IN" dirty="0"/>
              <a:t>Data analytics supports healthcare decision-making.</a:t>
            </a:r>
          </a:p>
          <a:p>
            <a:pPr marL="514350" lvl="0" indent="-514350" fontAlgn="base">
              <a:buFont typeface="+mj-lt"/>
              <a:buAutoNum type="arabicPeriod"/>
            </a:pPr>
            <a:r>
              <a:rPr lang="en-IN" dirty="0"/>
              <a:t>Diabetes is one of the most common chronic diseases worldwide.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This project focuses on </a:t>
            </a:r>
            <a:r>
              <a:rPr lang="en-IN" dirty="0" err="1"/>
              <a:t>analyzing</a:t>
            </a:r>
            <a:r>
              <a:rPr lang="en-IN" dirty="0"/>
              <a:t> diabetes healthcare data using Python</a:t>
            </a:r>
          </a:p>
        </p:txBody>
      </p:sp>
    </p:spTree>
    <p:extLst>
      <p:ext uri="{BB962C8B-B14F-4D97-AF65-F5344CB8AC3E}">
        <p14:creationId xmlns:p14="http://schemas.microsoft.com/office/powerpoint/2010/main" val="1843929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8B346-F5EE-D086-0563-1A997990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190C6-DB5E-21F3-0BD6-05A8D4747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 fontAlgn="base">
              <a:buFont typeface="+mj-lt"/>
              <a:buAutoNum type="arabicPeriod"/>
            </a:pPr>
            <a:r>
              <a:rPr lang="en-IN" dirty="0"/>
              <a:t>Diabetes affects millions of people globally.</a:t>
            </a:r>
          </a:p>
          <a:p>
            <a:pPr marL="514350" lvl="0" indent="-514350" fontAlgn="base">
              <a:buFont typeface="+mj-lt"/>
              <a:buAutoNum type="arabicPeriod"/>
            </a:pPr>
            <a:r>
              <a:rPr lang="en-IN" dirty="0"/>
              <a:t>Early detection is essential to prevent complications.</a:t>
            </a:r>
          </a:p>
          <a:p>
            <a:pPr marL="514350" lvl="0" indent="-514350" fontAlgn="base">
              <a:buFont typeface="+mj-lt"/>
              <a:buAutoNum type="arabicPeriod"/>
            </a:pPr>
            <a:r>
              <a:rPr lang="en-IN" dirty="0"/>
              <a:t>Manual analysis of patient records is difficult and time-consuming.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Data analysis techniques are required to identify significant health patterns</a:t>
            </a:r>
          </a:p>
        </p:txBody>
      </p:sp>
    </p:spTree>
    <p:extLst>
      <p:ext uri="{BB962C8B-B14F-4D97-AF65-F5344CB8AC3E}">
        <p14:creationId xmlns:p14="http://schemas.microsoft.com/office/powerpoint/2010/main" val="89424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E55D1-1700-3B61-B051-D043F59E6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250A1-6ECF-DA85-0259-E64A6DF49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 fontAlgn="base">
              <a:buFont typeface="+mj-lt"/>
              <a:buAutoNum type="arabicPeriod"/>
            </a:pPr>
            <a:r>
              <a:rPr lang="en-IN" dirty="0" err="1"/>
              <a:t>Analyze</a:t>
            </a:r>
            <a:r>
              <a:rPr lang="en-IN" dirty="0"/>
              <a:t> diabetes-related healthcare data.</a:t>
            </a:r>
          </a:p>
          <a:p>
            <a:pPr marL="514350" lvl="0" indent="-514350" fontAlgn="base">
              <a:buFont typeface="+mj-lt"/>
              <a:buAutoNum type="arabicPeriod"/>
            </a:pPr>
            <a:r>
              <a:rPr lang="en-IN" dirty="0"/>
              <a:t>Perform data cleaning and preprocessing.</a:t>
            </a:r>
          </a:p>
          <a:p>
            <a:pPr marL="514350" lvl="0" indent="-514350" fontAlgn="base">
              <a:buFont typeface="+mj-lt"/>
              <a:buAutoNum type="arabicPeriod"/>
            </a:pPr>
            <a:r>
              <a:rPr lang="en-IN" dirty="0"/>
              <a:t>Identify important diabetes risk factors.</a:t>
            </a:r>
          </a:p>
          <a:p>
            <a:pPr marL="514350" lvl="0" indent="-514350" fontAlgn="base">
              <a:buFont typeface="+mj-lt"/>
              <a:buAutoNum type="arabicPeriod"/>
            </a:pPr>
            <a:r>
              <a:rPr lang="en-IN" dirty="0"/>
              <a:t>Visualize healthcare trends.</a:t>
            </a:r>
          </a:p>
          <a:p>
            <a:pPr marL="514350" lvl="0" indent="-514350" fontAlgn="base">
              <a:buFont typeface="+mj-lt"/>
              <a:buAutoNum type="arabicPeriod"/>
            </a:pPr>
            <a:r>
              <a:rPr lang="en-IN" dirty="0"/>
              <a:t>Generate meaningful healthcare insights.</a:t>
            </a:r>
          </a:p>
          <a:p>
            <a:pPr marL="514350" lvl="0" indent="-514350" fontAlgn="base">
              <a:buFont typeface="+mj-lt"/>
              <a:buAutoNum type="arabicPeriod"/>
            </a:pPr>
            <a:r>
              <a:rPr lang="en-IN" dirty="0"/>
              <a:t>Support data-driven healthcare decisions.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0595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0E292-36CD-06E7-3F9E-5AB81A6D2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Need for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663F8-A27D-AF39-C95A-4778520FD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 fontAlgn="base">
              <a:buFont typeface="+mj-lt"/>
              <a:buAutoNum type="arabicPeriod"/>
            </a:pPr>
            <a:r>
              <a:rPr lang="en-IN" dirty="0"/>
              <a:t>Increasing number of diabetes patients.</a:t>
            </a:r>
          </a:p>
          <a:p>
            <a:pPr marL="514350" lvl="0" indent="-514350" fontAlgn="base">
              <a:buFont typeface="+mj-lt"/>
              <a:buAutoNum type="arabicPeriod"/>
            </a:pPr>
            <a:r>
              <a:rPr lang="en-IN" dirty="0"/>
              <a:t>Need for effective healthcare analysis.</a:t>
            </a:r>
          </a:p>
          <a:p>
            <a:pPr marL="514350" lvl="0" indent="-514350" fontAlgn="base">
              <a:buFont typeface="+mj-lt"/>
              <a:buAutoNum type="arabicPeriod"/>
            </a:pPr>
            <a:r>
              <a:rPr lang="en-IN" dirty="0"/>
              <a:t>Better understanding of disease patterns.</a:t>
            </a:r>
          </a:p>
          <a:p>
            <a:pPr marL="514350" lvl="0" indent="-514350" fontAlgn="base">
              <a:buFont typeface="+mj-lt"/>
              <a:buAutoNum type="arabicPeriod"/>
            </a:pPr>
            <a:r>
              <a:rPr lang="en-IN" dirty="0"/>
              <a:t>Support healthcare professionals in decision-making.</a:t>
            </a:r>
          </a:p>
          <a:p>
            <a:pPr marL="514350" lvl="0" indent="-514350" fontAlgn="base">
              <a:buFont typeface="+mj-lt"/>
              <a:buAutoNum type="arabicPeriod"/>
            </a:pPr>
            <a:r>
              <a:rPr lang="en-IN" dirty="0"/>
              <a:t>Improve patient care through data-driven insights.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5166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1AB29-7508-32B3-4F18-BF7313346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Technologies Used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56063-8D34-46D9-F78C-069833001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Programming Language</a:t>
            </a:r>
            <a:r>
              <a:rPr lang="en-IN" dirty="0"/>
              <a:t>:</a:t>
            </a:r>
          </a:p>
          <a:p>
            <a:pPr lvl="0" fontAlgn="base"/>
            <a:r>
              <a:rPr lang="en-IN" dirty="0"/>
              <a:t>Python Libraries:</a:t>
            </a:r>
          </a:p>
          <a:p>
            <a:pPr lvl="0" fontAlgn="base"/>
            <a:r>
              <a:rPr lang="en-IN" dirty="0"/>
              <a:t>Pandas</a:t>
            </a:r>
          </a:p>
          <a:p>
            <a:pPr lvl="0" fontAlgn="base"/>
            <a:r>
              <a:rPr lang="en-IN" dirty="0"/>
              <a:t>NumPy</a:t>
            </a:r>
          </a:p>
          <a:p>
            <a:pPr lvl="0" fontAlgn="base"/>
            <a:r>
              <a:rPr lang="en-IN" dirty="0"/>
              <a:t>Matplotlib</a:t>
            </a:r>
          </a:p>
          <a:p>
            <a:pPr lvl="0" fontAlgn="base"/>
            <a:r>
              <a:rPr lang="en-IN" dirty="0"/>
              <a:t>Seaborn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Development Tool:</a:t>
            </a:r>
          </a:p>
          <a:p>
            <a:pPr lvl="0" fontAlgn="base"/>
            <a:r>
              <a:rPr lang="en-IN" dirty="0" err="1"/>
              <a:t>Jupyter</a:t>
            </a:r>
            <a:r>
              <a:rPr lang="en-IN" dirty="0"/>
              <a:t> Notebook Operating System:</a:t>
            </a:r>
          </a:p>
          <a:p>
            <a:pPr lvl="0" fontAlgn="base"/>
            <a:r>
              <a:rPr lang="en-IN" dirty="0"/>
              <a:t>Windows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1392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EA12F-3C19-3320-9825-1BA9B80F8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/>
          <a:lstStyle/>
          <a:p>
            <a:r>
              <a:rPr lang="en-IN" b="1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F0217-974A-2B05-58FA-7F18C8E11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844"/>
            <a:ext cx="10515600" cy="5525729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Dataset Information</a:t>
            </a:r>
            <a:r>
              <a:rPr lang="en-IN" dirty="0"/>
              <a:t>:</a:t>
            </a:r>
          </a:p>
          <a:p>
            <a:pPr lvl="0" fontAlgn="base"/>
            <a:r>
              <a:rPr lang="en-IN" dirty="0"/>
              <a:t>Total Records: 768</a:t>
            </a:r>
          </a:p>
          <a:p>
            <a:pPr lvl="0" fontAlgn="base"/>
            <a:r>
              <a:rPr lang="en-IN" dirty="0"/>
              <a:t>Total Attributes: 9 Attributes:</a:t>
            </a:r>
          </a:p>
          <a:p>
            <a:pPr lvl="0" fontAlgn="base"/>
            <a:r>
              <a:rPr lang="en-IN" dirty="0"/>
              <a:t>Pregnancies</a:t>
            </a:r>
          </a:p>
          <a:p>
            <a:pPr lvl="0" fontAlgn="base"/>
            <a:r>
              <a:rPr lang="en-IN" dirty="0"/>
              <a:t>Glucose</a:t>
            </a:r>
          </a:p>
          <a:p>
            <a:pPr lvl="0" fontAlgn="base"/>
            <a:r>
              <a:rPr lang="en-IN" dirty="0" err="1"/>
              <a:t>BloodPressure</a:t>
            </a:r>
            <a:endParaRPr lang="en-IN" dirty="0"/>
          </a:p>
          <a:p>
            <a:pPr lvl="0" fontAlgn="base"/>
            <a:r>
              <a:rPr lang="en-IN" dirty="0" err="1"/>
              <a:t>SkinThickness</a:t>
            </a:r>
            <a:endParaRPr lang="en-IN" dirty="0"/>
          </a:p>
          <a:p>
            <a:pPr lvl="0" fontAlgn="base"/>
            <a:r>
              <a:rPr lang="en-IN" dirty="0"/>
              <a:t>Insulin</a:t>
            </a:r>
          </a:p>
          <a:p>
            <a:pPr lvl="0" fontAlgn="base"/>
            <a:r>
              <a:rPr lang="en-IN" dirty="0"/>
              <a:t>BMI</a:t>
            </a:r>
          </a:p>
          <a:p>
            <a:pPr lvl="0" fontAlgn="base"/>
            <a:r>
              <a:rPr lang="en-IN" dirty="0" err="1"/>
              <a:t>DiabetesPedigreeFunction</a:t>
            </a:r>
            <a:endParaRPr lang="en-IN" dirty="0"/>
          </a:p>
          <a:p>
            <a:pPr lvl="0" fontAlgn="base"/>
            <a:r>
              <a:rPr lang="en-IN" dirty="0"/>
              <a:t>Age</a:t>
            </a:r>
          </a:p>
          <a:p>
            <a:pPr lvl="0" fontAlgn="base">
              <a:buFont typeface="Wingdings" panose="05000000000000000000" pitchFamily="2" charset="2"/>
              <a:buChar char="Ø"/>
            </a:pPr>
            <a:r>
              <a:rPr lang="en-IN" b="1" dirty="0"/>
              <a:t>Outcome </a:t>
            </a:r>
            <a:r>
              <a:rPr lang="en-IN" b="1" dirty="0" err="1"/>
              <a:t>Outcome</a:t>
            </a:r>
            <a:r>
              <a:rPr lang="en-IN" dirty="0"/>
              <a:t>:</a:t>
            </a:r>
          </a:p>
          <a:p>
            <a:pPr lvl="0" fontAlgn="base"/>
            <a:r>
              <a:rPr lang="en-IN" dirty="0"/>
              <a:t>0 = Non-Diabetic</a:t>
            </a:r>
          </a:p>
          <a:p>
            <a:pPr lvl="0" fontAlgn="base"/>
            <a:r>
              <a:rPr lang="en-IN" dirty="0"/>
              <a:t>1 = Diabetic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0041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DB91AD-C318-CC05-F17A-F7C7983F5C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30" t="29221" r="28292" b="46601"/>
          <a:stretch>
            <a:fillRect/>
          </a:stretch>
        </p:blipFill>
        <p:spPr>
          <a:xfrm>
            <a:off x="816077" y="521109"/>
            <a:ext cx="3234814" cy="10520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6F8185-099D-CBD3-4257-4CECC312C1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54" t="20034" r="17079" b="41639"/>
          <a:stretch>
            <a:fillRect/>
          </a:stretch>
        </p:blipFill>
        <p:spPr>
          <a:xfrm>
            <a:off x="1140541" y="1740309"/>
            <a:ext cx="7698658" cy="262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367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E1036-C002-1495-91AC-84C04A37C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Methodology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A5FD5-78E3-818E-1B5D-3A613551D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6181"/>
            <a:ext cx="10515600" cy="4780782"/>
          </a:xfrm>
        </p:spPr>
        <p:txBody>
          <a:bodyPr/>
          <a:lstStyle/>
          <a:p>
            <a:r>
              <a:rPr lang="en-IN" dirty="0"/>
              <a:t>Dataset Collection  </a:t>
            </a:r>
          </a:p>
          <a:p>
            <a:r>
              <a:rPr lang="en-IN" dirty="0"/>
              <a:t>Data Loading  </a:t>
            </a:r>
          </a:p>
          <a:p>
            <a:r>
              <a:rPr lang="en-IN" dirty="0"/>
              <a:t>Data Preprocessing </a:t>
            </a:r>
          </a:p>
          <a:p>
            <a:r>
              <a:rPr lang="en-IN" dirty="0"/>
              <a:t> Data Cleaning  </a:t>
            </a:r>
          </a:p>
          <a:p>
            <a:r>
              <a:rPr lang="en-IN" dirty="0"/>
              <a:t>Exploratory Data Analysis Visualization </a:t>
            </a:r>
          </a:p>
          <a:p>
            <a:r>
              <a:rPr lang="en-IN" dirty="0"/>
              <a:t> Correlation Analysis  </a:t>
            </a:r>
          </a:p>
          <a:p>
            <a:r>
              <a:rPr lang="en-IN" dirty="0"/>
              <a:t>Results &amp; Findings</a:t>
            </a:r>
          </a:p>
          <a:p>
            <a:r>
              <a:rPr lang="en-IN" dirty="0"/>
              <a:t>  Conclusion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0075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B6EEB-8997-7B10-D337-89EC85EAB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92139-D53C-85C4-1460-5C258C3D4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Activities Performed:</a:t>
            </a:r>
          </a:p>
          <a:p>
            <a:pPr lvl="0" fontAlgn="base"/>
            <a:r>
              <a:rPr lang="en-IN" dirty="0"/>
              <a:t>Loaded dataset into </a:t>
            </a:r>
            <a:r>
              <a:rPr lang="en-IN" dirty="0" err="1"/>
              <a:t>Jupyter</a:t>
            </a:r>
            <a:r>
              <a:rPr lang="en-IN" dirty="0"/>
              <a:t> Notebook.</a:t>
            </a:r>
          </a:p>
          <a:p>
            <a:pPr lvl="0" fontAlgn="base"/>
            <a:r>
              <a:rPr lang="en-IN" dirty="0"/>
              <a:t>Checked data structure using df.info().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374D1B-4CAD-5F5B-5EBE-743B3D8B98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32" t="12282" r="43148" b="37044"/>
          <a:stretch>
            <a:fillRect/>
          </a:stretch>
        </p:blipFill>
        <p:spPr>
          <a:xfrm>
            <a:off x="1524000" y="3242188"/>
            <a:ext cx="4798142" cy="347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852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01F0-ED4D-3393-AA5A-D7B0BCCD2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"/>
            <a:ext cx="10515600" cy="5872163"/>
          </a:xfrm>
        </p:spPr>
        <p:txBody>
          <a:bodyPr/>
          <a:lstStyle/>
          <a:p>
            <a:pPr fontAlgn="base"/>
            <a:r>
              <a:rPr lang="en-IN" dirty="0"/>
              <a:t>Generated statistical summary using </a:t>
            </a:r>
            <a:r>
              <a:rPr lang="en-IN" dirty="0" err="1"/>
              <a:t>df.describe</a:t>
            </a:r>
            <a:r>
              <a:rPr lang="en-IN" dirty="0"/>
              <a:t>().</a:t>
            </a:r>
          </a:p>
          <a:p>
            <a:pPr fontAlgn="base"/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F3E335-72A6-0AA3-0C8C-E9282E690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616" b="53404"/>
          <a:stretch>
            <a:fillRect/>
          </a:stretch>
        </p:blipFill>
        <p:spPr>
          <a:xfrm>
            <a:off x="1288484" y="938349"/>
            <a:ext cx="9241865" cy="327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636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A8602-9255-CD35-1D12-3EDD356EA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5135"/>
            <a:ext cx="10515600" cy="5891828"/>
          </a:xfrm>
        </p:spPr>
        <p:txBody>
          <a:bodyPr/>
          <a:lstStyle/>
          <a:p>
            <a:pPr lvl="0" fontAlgn="base"/>
            <a:r>
              <a:rPr lang="en-IN" dirty="0"/>
              <a:t>Identified invalid zero values.</a:t>
            </a:r>
          </a:p>
          <a:p>
            <a:pPr marL="0" lvl="0" indent="0" fontAlgn="base">
              <a:buNone/>
            </a:pPr>
            <a:endParaRPr lang="en-IN" dirty="0"/>
          </a:p>
          <a:p>
            <a:pPr lvl="0" fontAlgn="base"/>
            <a:endParaRPr lang="en-IN" dirty="0"/>
          </a:p>
          <a:p>
            <a:pPr lvl="0" fontAlgn="base"/>
            <a:endParaRPr lang="en-IN" dirty="0"/>
          </a:p>
          <a:p>
            <a:pPr lvl="0" fontAlgn="base"/>
            <a:endParaRPr lang="en-IN" dirty="0"/>
          </a:p>
          <a:p>
            <a:pPr lvl="0" fontAlgn="base"/>
            <a:endParaRPr lang="en-IN" dirty="0"/>
          </a:p>
          <a:p>
            <a:pPr lvl="0" fontAlgn="base"/>
            <a:r>
              <a:rPr lang="en-IN" dirty="0"/>
              <a:t>Replaced zero values using median values.</a:t>
            </a:r>
          </a:p>
          <a:p>
            <a:pPr lvl="0" fontAlgn="base"/>
            <a:r>
              <a:rPr lang="en-IN" dirty="0"/>
              <a:t>Verified cleaned dataset.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Benefits:</a:t>
            </a:r>
          </a:p>
          <a:p>
            <a:pPr lvl="0" fontAlgn="base"/>
            <a:r>
              <a:rPr lang="en-IN" dirty="0"/>
              <a:t>Improved data quality.</a:t>
            </a:r>
          </a:p>
          <a:p>
            <a:pPr lvl="0" fontAlgn="base"/>
            <a:r>
              <a:rPr lang="en-IN" dirty="0"/>
              <a:t>Increased analysis accuracy.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44D9B1-3484-FFF9-96E7-B56BFB75E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24" t="-16221" r="52314" b="75229"/>
          <a:stretch>
            <a:fillRect/>
          </a:stretch>
        </p:blipFill>
        <p:spPr>
          <a:xfrm>
            <a:off x="1052509" y="-98324"/>
            <a:ext cx="5492242" cy="287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403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8869E54-FE67-F51A-D406-C6C5B594F1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078" y="1065212"/>
            <a:ext cx="9345805" cy="579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58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C1D45-4821-8B14-AF17-010D76F70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E486C-1929-688C-ED7F-D106E310A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Analysis Performed:</a:t>
            </a:r>
          </a:p>
          <a:p>
            <a:pPr lvl="0" fontAlgn="base"/>
            <a:r>
              <a:rPr lang="en-IN" dirty="0"/>
              <a:t>Diabetes Distribution Analysis</a:t>
            </a:r>
          </a:p>
          <a:p>
            <a:pPr marL="0" lvl="0" indent="0" fontAlgn="base">
              <a:buNone/>
            </a:pP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FE0273-9967-6F32-C8D9-50D0D181A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331" b="70956"/>
          <a:stretch>
            <a:fillRect/>
          </a:stretch>
        </p:blipFill>
        <p:spPr>
          <a:xfrm>
            <a:off x="2227872" y="3600529"/>
            <a:ext cx="2344127" cy="159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357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E0852-8F7D-F653-A835-7A081D214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8426"/>
            <a:ext cx="10515600" cy="5498537"/>
          </a:xfrm>
        </p:spPr>
        <p:txBody>
          <a:bodyPr/>
          <a:lstStyle/>
          <a:p>
            <a:pPr lvl="0" fontAlgn="base"/>
            <a:r>
              <a:rPr lang="en-IN" dirty="0"/>
              <a:t>Age Distribution Analysis</a:t>
            </a:r>
          </a:p>
          <a:p>
            <a:pPr lvl="0" fontAlgn="base"/>
            <a:r>
              <a:rPr lang="en-IN" dirty="0"/>
              <a:t>Glucose Distribution Analysis</a:t>
            </a:r>
          </a:p>
          <a:p>
            <a:pPr lvl="0" fontAlgn="base"/>
            <a:r>
              <a:rPr lang="en-IN" dirty="0"/>
              <a:t>BMI Analysis</a:t>
            </a:r>
          </a:p>
          <a:p>
            <a:pPr lvl="0" fontAlgn="base">
              <a:buFont typeface="Wingdings" panose="05000000000000000000" pitchFamily="2" charset="2"/>
              <a:buChar char="Ø"/>
            </a:pPr>
            <a:r>
              <a:rPr lang="en-IN" b="1" dirty="0"/>
              <a:t>Correlation Analysis Purpose:</a:t>
            </a:r>
          </a:p>
          <a:p>
            <a:pPr lvl="0" fontAlgn="base"/>
            <a:r>
              <a:rPr lang="en-IN" dirty="0"/>
              <a:t>Understand patient characteristics.</a:t>
            </a:r>
          </a:p>
          <a:p>
            <a:pPr lvl="0" fontAlgn="base"/>
            <a:r>
              <a:rPr lang="en-IN" dirty="0"/>
              <a:t>Discover healthcare trends.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0159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A8BA7-2052-4CC9-A804-34DEBCCA7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31CBF-EF91-1FF5-CC4F-380CD752F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4671"/>
            <a:ext cx="10515600" cy="469229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Visualizations Created:</a:t>
            </a:r>
          </a:p>
          <a:p>
            <a:pPr lvl="0" fontAlgn="base"/>
            <a:r>
              <a:rPr lang="en-IN" dirty="0"/>
              <a:t>Diabetes Distribution</a:t>
            </a:r>
          </a:p>
          <a:p>
            <a:pPr marL="0" indent="0">
              <a:buNone/>
            </a:pPr>
            <a:r>
              <a:rPr lang="en-IN" dirty="0"/>
              <a:t>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684B5A-83B6-B46E-553F-79098009CF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4" t="29940" r="19748" b="4172"/>
          <a:stretch>
            <a:fillRect/>
          </a:stretch>
        </p:blipFill>
        <p:spPr>
          <a:xfrm>
            <a:off x="4758814" y="1690688"/>
            <a:ext cx="7315200" cy="451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302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097C0-078A-8A14-40F6-3967A904F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Age Distribution Histogram</a:t>
            </a:r>
            <a:br>
              <a:rPr lang="en-IN" b="1" dirty="0"/>
            </a:b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38485C-122F-5D1A-734B-83602119A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346" y="1277784"/>
            <a:ext cx="8142042" cy="504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149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FDD85-E5EA-0E48-80E8-A16CE273C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Glucose Distribution Histogram</a:t>
            </a:r>
            <a:br>
              <a:rPr lang="en-IN" b="1" dirty="0"/>
            </a:b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25C316-C333-9C87-6D66-E3D0FDB628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264" y="1534140"/>
            <a:ext cx="6300440" cy="466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274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EB0B4-098D-1C23-8EF4-1D28FBDB0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Correlation Heatmap</a:t>
            </a:r>
            <a:br>
              <a:rPr lang="en-IN" b="1" dirty="0"/>
            </a:b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70E994-8D17-DD79-DCFD-B718744177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720" y="1287463"/>
            <a:ext cx="8172560" cy="488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9223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DD32D-C22A-E920-97D7-D8033DFA1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Glucose Levels by Diabetes Outcome</a:t>
            </a:r>
            <a:br>
              <a:rPr lang="en-IN" b="1" dirty="0"/>
            </a:b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7AE5E4-785D-DC29-01E3-F1CDF9C83A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230" y="1668565"/>
            <a:ext cx="569190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0747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04BAF-C0F7-3C72-F20A-ED61D83E3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Correlation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2A689-E4E2-F845-3636-F17A8C697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Correlation Results:</a:t>
            </a:r>
          </a:p>
          <a:p>
            <a:r>
              <a:rPr lang="en-IN" dirty="0"/>
              <a:t>Glucose = 0.493</a:t>
            </a:r>
          </a:p>
          <a:p>
            <a:r>
              <a:rPr lang="en-IN" dirty="0"/>
              <a:t>BMI = 0.312</a:t>
            </a:r>
          </a:p>
          <a:p>
            <a:r>
              <a:rPr lang="en-IN" dirty="0"/>
              <a:t>Age = 0.238</a:t>
            </a:r>
          </a:p>
          <a:p>
            <a:r>
              <a:rPr lang="en-IN" dirty="0"/>
              <a:t>Pregnancies = 0.222</a:t>
            </a:r>
          </a:p>
          <a:p>
            <a:r>
              <a:rPr lang="en-IN" dirty="0" err="1"/>
              <a:t>SkinThickness</a:t>
            </a:r>
            <a:r>
              <a:rPr lang="en-IN" dirty="0"/>
              <a:t> = 0.189</a:t>
            </a:r>
          </a:p>
          <a:p>
            <a:r>
              <a:rPr lang="en-IN" dirty="0" err="1"/>
              <a:t>DiabetesPedigreeFunction</a:t>
            </a:r>
            <a:r>
              <a:rPr lang="en-IN" dirty="0"/>
              <a:t> = 0.174</a:t>
            </a:r>
          </a:p>
          <a:p>
            <a:r>
              <a:rPr lang="en-IN" dirty="0" err="1"/>
              <a:t>BloodPressure</a:t>
            </a:r>
            <a:r>
              <a:rPr lang="en-IN" dirty="0"/>
              <a:t> = 0.166</a:t>
            </a:r>
          </a:p>
          <a:p>
            <a:r>
              <a:rPr lang="en-IN" dirty="0"/>
              <a:t>Insulin = 0.148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Observation:</a:t>
            </a:r>
          </a:p>
          <a:p>
            <a:r>
              <a:rPr lang="en-IN" dirty="0"/>
              <a:t>Glucose shows the strongest relationship with diabetes occurrence.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0248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3DDBED-6A2E-4B09-2D08-EE8C3B3C65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634" y="690180"/>
            <a:ext cx="7401958" cy="54776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364056-EC50-4BCD-7045-AF5FA6C55478}"/>
              </a:ext>
            </a:extLst>
          </p:cNvPr>
          <p:cNvSpPr txBox="1"/>
          <p:nvPr/>
        </p:nvSpPr>
        <p:spPr>
          <a:xfrm>
            <a:off x="796414" y="491613"/>
            <a:ext cx="1055001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32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analysis shows that glucose level has the strongest relationship with diabetes.</a:t>
            </a:r>
            <a:endParaRPr lang="en-IN" sz="3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9436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ACD2B-6387-0DC3-3E0C-6E2828426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2230"/>
          </a:xfrm>
        </p:spPr>
        <p:txBody>
          <a:bodyPr/>
          <a:lstStyle/>
          <a:p>
            <a:r>
              <a:rPr lang="en-IN" b="1" dirty="0"/>
              <a:t>Results and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A960B-59CC-3C3C-857B-AA5901D2D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7356"/>
            <a:ext cx="10515600" cy="533891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Average Values:</a:t>
            </a:r>
          </a:p>
          <a:p>
            <a:r>
              <a:rPr lang="en-IN" dirty="0"/>
              <a:t>Non-Diabetic Patients</a:t>
            </a:r>
          </a:p>
          <a:p>
            <a:pPr lvl="0" fontAlgn="base"/>
            <a:r>
              <a:rPr lang="en-IN" dirty="0"/>
              <a:t>Glucose = 110.68</a:t>
            </a:r>
          </a:p>
          <a:p>
            <a:pPr lvl="0" fontAlgn="base"/>
            <a:r>
              <a:rPr lang="en-IN" dirty="0"/>
              <a:t>BMI = 30.88</a:t>
            </a:r>
          </a:p>
          <a:p>
            <a:pPr lvl="0" fontAlgn="base"/>
            <a:r>
              <a:rPr lang="en-IN" dirty="0"/>
              <a:t>Age = 31.19</a:t>
            </a:r>
          </a:p>
          <a:p>
            <a:r>
              <a:rPr lang="en-IN" dirty="0"/>
              <a:t>Diabetic Patients</a:t>
            </a:r>
          </a:p>
          <a:p>
            <a:pPr lvl="0" fontAlgn="base"/>
            <a:r>
              <a:rPr lang="en-IN" dirty="0"/>
              <a:t>Glucose = 142.13</a:t>
            </a:r>
          </a:p>
          <a:p>
            <a:pPr lvl="0" fontAlgn="base"/>
            <a:r>
              <a:rPr lang="en-IN" dirty="0"/>
              <a:t>BMI = 35.38</a:t>
            </a:r>
          </a:p>
          <a:p>
            <a:pPr lvl="0" fontAlgn="base"/>
            <a:r>
              <a:rPr lang="en-IN" dirty="0"/>
              <a:t>Age = 37.07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81178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FEDF577-74F7-E043-D6A5-CD2E71A6DA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343" b="59713"/>
          <a:stretch>
            <a:fillRect/>
          </a:stretch>
        </p:blipFill>
        <p:spPr bwMode="auto">
          <a:xfrm>
            <a:off x="1241464" y="454088"/>
            <a:ext cx="4065355" cy="176532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821499-4825-D560-5174-A44519909E68}"/>
              </a:ext>
            </a:extLst>
          </p:cNvPr>
          <p:cNvSpPr txBox="1"/>
          <p:nvPr/>
        </p:nvSpPr>
        <p:spPr>
          <a:xfrm>
            <a:off x="983226" y="2831294"/>
            <a:ext cx="8160774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>
              <a:buFont typeface="Wingdings" panose="05000000000000000000" pitchFamily="2" charset="2"/>
              <a:buChar char="Ø"/>
            </a:pPr>
            <a:r>
              <a:rPr lang="en-IN" sz="2800" b="1" dirty="0"/>
              <a:t>Key Findings:</a:t>
            </a:r>
          </a:p>
          <a:p>
            <a:pPr lvl="0" fontAlgn="base"/>
            <a:r>
              <a:rPr lang="en-IN" sz="2400" dirty="0"/>
              <a:t>Higher glucose levels increase diabetes risk.</a:t>
            </a:r>
          </a:p>
          <a:p>
            <a:pPr lvl="0" fontAlgn="base"/>
            <a:r>
              <a:rPr lang="en-IN" sz="2400" dirty="0"/>
              <a:t>Higher BMI is associated with diabetes.</a:t>
            </a:r>
          </a:p>
          <a:p>
            <a:pPr lvl="0" fontAlgn="base"/>
            <a:r>
              <a:rPr lang="en-IN" sz="2400" dirty="0"/>
              <a:t>Older individuals have a greater chance of developing diabetes.</a:t>
            </a:r>
          </a:p>
        </p:txBody>
      </p:sp>
    </p:spTree>
    <p:extLst>
      <p:ext uri="{BB962C8B-B14F-4D97-AF65-F5344CB8AC3E}">
        <p14:creationId xmlns:p14="http://schemas.microsoft.com/office/powerpoint/2010/main" val="3110133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B6CE-755E-6F3E-62A2-0FCCDF709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Advantages and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D0657-58F6-EED2-73BA-1AA0B53EE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658"/>
            <a:ext cx="10515600" cy="4890217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Advantages:</a:t>
            </a:r>
          </a:p>
          <a:p>
            <a:pPr lvl="0" fontAlgn="base"/>
            <a:r>
              <a:rPr lang="en-IN" dirty="0"/>
              <a:t>Identifies diabetes risk factors. • Supports healthcare decisions.</a:t>
            </a:r>
          </a:p>
          <a:p>
            <a:pPr lvl="0" fontAlgn="base"/>
            <a:r>
              <a:rPr lang="en-IN" dirty="0"/>
              <a:t>Provides meaningful healthcare insights.</a:t>
            </a:r>
          </a:p>
          <a:p>
            <a:pPr lvl="0" fontAlgn="base"/>
            <a:r>
              <a:rPr lang="en-IN" dirty="0"/>
              <a:t>Demonstrates practical use of Python.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Applications:</a:t>
            </a:r>
          </a:p>
          <a:p>
            <a:pPr lvl="0" fontAlgn="base"/>
            <a:r>
              <a:rPr lang="en-IN" dirty="0"/>
              <a:t>Hospitals</a:t>
            </a:r>
          </a:p>
          <a:p>
            <a:pPr lvl="0" fontAlgn="base"/>
            <a:r>
              <a:rPr lang="en-IN" dirty="0"/>
              <a:t>Clinics</a:t>
            </a:r>
          </a:p>
          <a:p>
            <a:pPr lvl="0" fontAlgn="base"/>
            <a:r>
              <a:rPr lang="en-IN" dirty="0"/>
              <a:t>Medical Research </a:t>
            </a:r>
            <a:r>
              <a:rPr lang="en-IN" dirty="0" err="1"/>
              <a:t>Centers</a:t>
            </a:r>
            <a:endParaRPr lang="en-IN" dirty="0"/>
          </a:p>
          <a:p>
            <a:pPr lvl="0" fontAlgn="base"/>
            <a:r>
              <a:rPr lang="en-IN" dirty="0"/>
              <a:t>Healthcare Organizations</a:t>
            </a:r>
          </a:p>
          <a:p>
            <a:pPr lvl="0" fontAlgn="base"/>
            <a:r>
              <a:rPr lang="en-IN" dirty="0"/>
              <a:t>Public Health Monitoring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04735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FA1F2-D58D-4C4A-F5E6-7430B0565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D9F16-4A97-AAEA-F3FB-5BC00DD36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IN" dirty="0"/>
              <a:t>Successfully </a:t>
            </a:r>
            <a:r>
              <a:rPr lang="en-IN" dirty="0" err="1"/>
              <a:t>analyzed</a:t>
            </a:r>
            <a:r>
              <a:rPr lang="en-IN" dirty="0"/>
              <a:t> diabetes healthcare data.</a:t>
            </a:r>
          </a:p>
          <a:p>
            <a:pPr lvl="0" fontAlgn="base"/>
            <a:r>
              <a:rPr lang="en-IN" dirty="0"/>
              <a:t>Identified key diabetes risk factors.</a:t>
            </a:r>
          </a:p>
          <a:p>
            <a:pPr lvl="0" fontAlgn="base"/>
            <a:r>
              <a:rPr lang="en-IN" dirty="0"/>
              <a:t>Glucose, BMI, and Age are the most influential attributes.</a:t>
            </a:r>
          </a:p>
          <a:p>
            <a:pPr lvl="0" fontAlgn="base"/>
            <a:r>
              <a:rPr lang="en-IN" dirty="0"/>
              <a:t>Data analytics can improve healthcare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69050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ECC3B-7B20-CE9F-FCCE-BD136617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C0579-154C-5374-BDF7-C8A113207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IN" dirty="0"/>
              <a:t>Diabetes prediction using Machine Learning.</a:t>
            </a:r>
          </a:p>
          <a:p>
            <a:pPr lvl="0" fontAlgn="base"/>
            <a:r>
              <a:rPr lang="en-IN" dirty="0"/>
              <a:t>Healthcare dashboards.</a:t>
            </a:r>
          </a:p>
          <a:p>
            <a:pPr lvl="0" fontAlgn="base"/>
            <a:r>
              <a:rPr lang="en-IN" dirty="0"/>
              <a:t>Real-time patient monitoring.</a:t>
            </a:r>
          </a:p>
          <a:p>
            <a:r>
              <a:rPr lang="en-IN" dirty="0"/>
              <a:t>AI-based disease prediction systems</a:t>
            </a:r>
          </a:p>
        </p:txBody>
      </p:sp>
    </p:spTree>
    <p:extLst>
      <p:ext uri="{BB962C8B-B14F-4D97-AF65-F5344CB8AC3E}">
        <p14:creationId xmlns:p14="http://schemas.microsoft.com/office/powerpoint/2010/main" val="27381516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BEEE4-0FF3-F1EF-89EB-DDCC5D0AA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2787"/>
            <a:ext cx="10515600" cy="575417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IN" sz="4400" b="1" dirty="0"/>
          </a:p>
          <a:p>
            <a:pPr marL="0" indent="0" algn="ctr">
              <a:buNone/>
            </a:pPr>
            <a:endParaRPr lang="en-IN" sz="4400" b="1" dirty="0"/>
          </a:p>
          <a:p>
            <a:pPr marL="0" indent="0" algn="ctr">
              <a:buNone/>
            </a:pPr>
            <a:endParaRPr lang="en-IN" sz="4400" b="1" dirty="0"/>
          </a:p>
          <a:p>
            <a:pPr marL="0" indent="0" algn="ctr">
              <a:buNone/>
            </a:pPr>
            <a:r>
              <a:rPr lang="en-IN" sz="44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58053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574</Words>
  <Application>Microsoft Office PowerPoint</Application>
  <PresentationFormat>Widescreen</PresentationFormat>
  <Paragraphs>156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Arial</vt:lpstr>
      <vt:lpstr>Calibri</vt:lpstr>
      <vt:lpstr>Calibri Light</vt:lpstr>
      <vt:lpstr>Wingdings</vt:lpstr>
      <vt:lpstr>Office Theme</vt:lpstr>
      <vt:lpstr>PowerPoint Presentation</vt:lpstr>
      <vt:lpstr> Introduction</vt:lpstr>
      <vt:lpstr>Problem Statement</vt:lpstr>
      <vt:lpstr> Objectives</vt:lpstr>
      <vt:lpstr>Need for the Project</vt:lpstr>
      <vt:lpstr>Technologies Used </vt:lpstr>
      <vt:lpstr>Dataset Description</vt:lpstr>
      <vt:lpstr>PowerPoint Presentation</vt:lpstr>
      <vt:lpstr>Methodology </vt:lpstr>
      <vt:lpstr>Data Preprocessing</vt:lpstr>
      <vt:lpstr>PowerPoint Presentation</vt:lpstr>
      <vt:lpstr>PowerPoint Presentation</vt:lpstr>
      <vt:lpstr>PowerPoint Presentation</vt:lpstr>
      <vt:lpstr>Exploratory Data Analysis</vt:lpstr>
      <vt:lpstr>PowerPoint Presentation</vt:lpstr>
      <vt:lpstr>Data Visualization</vt:lpstr>
      <vt:lpstr>Age Distribution Histogram </vt:lpstr>
      <vt:lpstr>Glucose Distribution Histogram </vt:lpstr>
      <vt:lpstr>Correlation Heatmap </vt:lpstr>
      <vt:lpstr>Glucose Levels by Diabetes Outcome </vt:lpstr>
      <vt:lpstr>Correlation Analysis</vt:lpstr>
      <vt:lpstr>PowerPoint Presentation</vt:lpstr>
      <vt:lpstr>Results and Findings</vt:lpstr>
      <vt:lpstr>PowerPoint Presentation</vt:lpstr>
      <vt:lpstr>Advantages and Applications</vt:lpstr>
      <vt:lpstr>Conclusion</vt:lpstr>
      <vt:lpstr>Future Scope: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BONAGIRI GEETHA</dc:creator>
  <cp:lastModifiedBy>BONAGIRI GEETHA</cp:lastModifiedBy>
  <cp:revision>2</cp:revision>
  <dcterms:created xsi:type="dcterms:W3CDTF">2026-05-30T14:35:38Z</dcterms:created>
  <dcterms:modified xsi:type="dcterms:W3CDTF">2026-05-30T15:47:06Z</dcterms:modified>
</cp:coreProperties>
</file>